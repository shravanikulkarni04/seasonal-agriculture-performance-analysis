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494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ravaniKulkarni04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28" y="2853025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01748F-220F-3B66-7EB6-55FBFE5A6559}"/>
              </a:ext>
            </a:extLst>
          </p:cNvPr>
          <p:cNvSpPr txBox="1"/>
          <p:nvPr/>
        </p:nvSpPr>
        <p:spPr>
          <a:xfrm>
            <a:off x="3200400" y="2905780"/>
            <a:ext cx="7252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Seasonal Agriculture Performance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3F01F2-4683-600C-1A89-A68A78BCFE03}"/>
              </a:ext>
            </a:extLst>
          </p:cNvPr>
          <p:cNvSpPr txBox="1"/>
          <p:nvPr/>
        </p:nvSpPr>
        <p:spPr>
          <a:xfrm>
            <a:off x="675956" y="3615893"/>
            <a:ext cx="77329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Student Name : SHRAVANI SACHIN KULKARNI 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College Name : Zeal College of Engineering &amp; Research </a:t>
            </a:r>
            <a:br>
              <a:rPr lang="en-IN" dirty="0"/>
            </a:br>
            <a:br>
              <a:rPr lang="en-IN" dirty="0"/>
            </a:br>
            <a:r>
              <a:rPr lang="en-US" b="1" dirty="0"/>
              <a:t>AICTE STU ID : STU674a899493ef71732938132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0DFF85-0CCB-0730-C0FC-3730F4535C08}"/>
              </a:ext>
            </a:extLst>
          </p:cNvPr>
          <p:cNvSpPr txBox="1"/>
          <p:nvPr/>
        </p:nvSpPr>
        <p:spPr>
          <a:xfrm>
            <a:off x="484094" y="2133600"/>
            <a:ext cx="75115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Agricultural activities and outputs fluctuate heavily across seasons due to changing rainfall, temperatures, input costs, and resource constraints.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Raw agricultural datasets often fail to show which combination of practices actually produces profitable outcomes versus financial loss.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production volume does not guarantee high profitability if excessive input costs and water overuse erode farm margins.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goal of this project is to analyze 4,000 multi-seasonal farm records to identify patterns connecting environmental conditions, irrigation practices, inputs, crop yields, and economic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9A3BBC-9DE3-0CA2-02F2-F6DA372CE8F8}"/>
              </a:ext>
            </a:extLst>
          </p:cNvPr>
          <p:cNvSpPr txBox="1"/>
          <p:nvPr/>
        </p:nvSpPr>
        <p:spPr>
          <a:xfrm>
            <a:off x="394447" y="2277035"/>
            <a:ext cx="83909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Dataset Scope:</a:t>
            </a:r>
            <a:r>
              <a:rPr lang="en-US" dirty="0"/>
              <a:t> 4,000 farm records covering Kharif, Rabi, and Zaid seasons across varied soil types, input levels, and regional conditions.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Context-Based Data Cleaning:</a:t>
            </a:r>
            <a:r>
              <a:rPr lang="en-US" dirty="0"/>
              <a:t> Replaced missing values using grouped domain medians—Rainfall by Season, Soil Moisture by Season and Irrigation Method, and Yield by Crop and Season.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Engineered Analytical Features:</a:t>
            </a:r>
            <a:r>
              <a:rPr lang="en-US" dirty="0"/>
              <a:t> Formulated derived metrics including Cost per </a:t>
            </a:r>
            <a:r>
              <a:rPr lang="en-US" dirty="0" err="1"/>
              <a:t>Tonne</a:t>
            </a:r>
            <a:r>
              <a:rPr lang="en-US" dirty="0"/>
              <a:t>, Profit Margin %, Revenue per Hectare, Water per Hectare, and Fertilizer Efficiency.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Composite Evaluation:</a:t>
            </a:r>
            <a:r>
              <a:rPr lang="en-US" dirty="0"/>
              <a:t> Developed a normalized Seasonal Performance Score combining Yield (35%), Profit (40%), and Water Efficiency (25%) for balanced seasonal benchmarking.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D251F8-910D-137B-2F40-8716B7C39AC2}"/>
              </a:ext>
            </a:extLst>
          </p:cNvPr>
          <p:cNvSpPr txBox="1"/>
          <p:nvPr/>
        </p:nvSpPr>
        <p:spPr>
          <a:xfrm>
            <a:off x="620008" y="2294965"/>
            <a:ext cx="85419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Farmers &amp; Farmer Producer Organizations (FPOs):</a:t>
            </a:r>
            <a:r>
              <a:rPr lang="en-US" dirty="0"/>
              <a:t> For choosing optimal seasonal crop varieties, cutting wasteful input expenditure, and selecting cost-effective irrigation methods.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Agricultural Policy Makers &amp; Government Agencies:</a:t>
            </a:r>
            <a:r>
              <a:rPr lang="en-US" dirty="0"/>
              <a:t> For planning seasonal water distribution, targeting micro-irrigation subsidies, and setting regional yield targets.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Agronomists &amp; Resource Planners:</a:t>
            </a:r>
            <a:r>
              <a:rPr lang="en-US" dirty="0"/>
              <a:t> For setting benchmark limits on fertilizer application to avoid diminishing financial returns.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b="1" dirty="0"/>
              <a:t>Programming Language:</a:t>
            </a:r>
            <a:r>
              <a:rPr lang="en-IN" dirty="0"/>
              <a:t> Python 3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Data Processing &amp; Manipulation:</a:t>
            </a:r>
            <a:r>
              <a:rPr lang="en-IN" dirty="0"/>
              <a:t> Pandas, NumPy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Data Visualization:</a:t>
            </a:r>
            <a:r>
              <a:rPr lang="en-IN" dirty="0"/>
              <a:t> Seaborn, Matplotlib</a:t>
            </a:r>
          </a:p>
          <a:p>
            <a:pPr lvl="1">
              <a:lnSpc>
                <a:spcPct val="150000"/>
              </a:lnSpc>
            </a:pPr>
            <a:r>
              <a:rPr lang="en-IN" b="1" dirty="0"/>
              <a:t>Development Environment:</a:t>
            </a:r>
            <a:r>
              <a:rPr lang="en-IN" dirty="0"/>
              <a:t>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433F3D-05B6-ED2B-727C-F8BDDD39A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703"/>
          <a:stretch>
            <a:fillRect/>
          </a:stretch>
        </p:blipFill>
        <p:spPr>
          <a:xfrm>
            <a:off x="6576490" y="717177"/>
            <a:ext cx="5109615" cy="60374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27315E-19F2-1BDA-2215-B95869615758}"/>
              </a:ext>
            </a:extLst>
          </p:cNvPr>
          <p:cNvSpPr txBox="1"/>
          <p:nvPr/>
        </p:nvSpPr>
        <p:spPr>
          <a:xfrm>
            <a:off x="320982" y="1667435"/>
            <a:ext cx="60529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Environment Configuration:</a:t>
            </a:r>
            <a:r>
              <a:rPr lang="en-IN" dirty="0"/>
              <a:t> Imports standard data science libraries (pandas, </a:t>
            </a:r>
            <a:r>
              <a:rPr lang="en-IN" dirty="0" err="1"/>
              <a:t>numpy</a:t>
            </a:r>
            <a:r>
              <a:rPr lang="en-IN" dirty="0"/>
              <a:t>, matplotlib, seaborn) while configuring numerical display formats and suppressive warning filters.</a:t>
            </a:r>
            <a:br>
              <a:rPr lang="en-IN" dirty="0"/>
            </a:br>
            <a:br>
              <a:rPr lang="en-IN" dirty="0"/>
            </a:br>
            <a:r>
              <a:rPr lang="en-US" b="1" dirty="0"/>
              <a:t>Raw Data Loading:</a:t>
            </a:r>
            <a:r>
              <a:rPr lang="en-US" dirty="0"/>
              <a:t> Reads seasonal_agriculture_performance_dataset.csv into a Pandas </a:t>
            </a:r>
            <a:r>
              <a:rPr lang="en-US" dirty="0" err="1"/>
              <a:t>DataFrame</a:t>
            </a:r>
            <a:r>
              <a:rPr lang="en-US" dirty="0"/>
              <a:t> to inspect initial dimensions and record layouts.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Structure Verification:</a:t>
            </a:r>
            <a:r>
              <a:rPr lang="en-US" dirty="0"/>
              <a:t> Confirms file integrity by logging total observation counts and printing initial record previews via head().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2D9B77-45EC-B01A-C4C1-F75ABC1C4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776" y="280941"/>
            <a:ext cx="5127813" cy="64874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E02F66-043B-9BD7-A8BA-426F23A72F70}"/>
              </a:ext>
            </a:extLst>
          </p:cNvPr>
          <p:cNvSpPr txBox="1"/>
          <p:nvPr/>
        </p:nvSpPr>
        <p:spPr>
          <a:xfrm>
            <a:off x="320982" y="1608410"/>
            <a:ext cx="59184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Attribute Scoping:</a:t>
            </a:r>
            <a:r>
              <a:rPr lang="en-US" dirty="0"/>
              <a:t> Catalogs features across farm demographics, seasonal weather, soil indicators, input volumes, crop outputs, and net economics.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Integrity Auditing:</a:t>
            </a:r>
            <a:r>
              <a:rPr lang="en-US" dirty="0"/>
              <a:t> Uses .info() and column listings to verify data types and identify column-wise null counts.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Duplicate &amp; Anomaly Detection:</a:t>
            </a:r>
            <a:r>
              <a:rPr lang="en-US" dirty="0"/>
              <a:t> Calculates exact missing-value percentages per attribute and scans the dataset for redundant duplicate rows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C11171-FC0F-5422-C744-DCE8874BF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088" y="570732"/>
            <a:ext cx="5351930" cy="59977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854B72-1CB9-C8C4-FC64-F2C038B57F28}"/>
              </a:ext>
            </a:extLst>
          </p:cNvPr>
          <p:cNvSpPr txBox="1"/>
          <p:nvPr/>
        </p:nvSpPr>
        <p:spPr>
          <a:xfrm>
            <a:off x="320982" y="1775012"/>
            <a:ext cx="56943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Domain-Specific Imputation:</a:t>
            </a:r>
            <a:r>
              <a:rPr lang="en-US" dirty="0"/>
              <a:t> Replaces missing figures with grouped subgroup medians rather than applying a single distorted global average.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Stratified Imputation Logic:</a:t>
            </a:r>
            <a:r>
              <a:rPr lang="en-US" dirty="0"/>
              <a:t> Imputes </a:t>
            </a:r>
            <a:r>
              <a:rPr lang="en-US" dirty="0" err="1"/>
              <a:t>Rainfall_mm</a:t>
            </a:r>
            <a:r>
              <a:rPr lang="en-US" dirty="0"/>
              <a:t> by Season, </a:t>
            </a:r>
            <a:r>
              <a:rPr lang="en-US" dirty="0" err="1"/>
              <a:t>Soil_Moisture_pct</a:t>
            </a:r>
            <a:r>
              <a:rPr lang="en-US" dirty="0"/>
              <a:t> by Season combined with Irrigation Method, and </a:t>
            </a:r>
            <a:r>
              <a:rPr lang="en-US" dirty="0" err="1"/>
              <a:t>Yield_Tonnes_Ha</a:t>
            </a:r>
            <a:r>
              <a:rPr lang="en-US" dirty="0"/>
              <a:t> by Crop and Season. 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Null Elimination:</a:t>
            </a:r>
            <a:r>
              <a:rPr lang="en-US" dirty="0"/>
              <a:t> Validates the cleaned </a:t>
            </a:r>
            <a:r>
              <a:rPr lang="en-US" dirty="0" err="1"/>
              <a:t>DataFrame</a:t>
            </a:r>
            <a:r>
              <a:rPr lang="en-US" dirty="0"/>
              <a:t> (</a:t>
            </a:r>
            <a:r>
              <a:rPr lang="en-US" dirty="0" err="1"/>
              <a:t>df_clean</a:t>
            </a:r>
            <a:r>
              <a:rPr lang="en-US" dirty="0"/>
              <a:t>) to confirm zero remaining null values without discarding valid records.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D67E15-0D15-6949-D0C1-0D87BF524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594" y="705522"/>
            <a:ext cx="5226424" cy="58629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3452930-960E-E806-758F-A0E3B15ACAAC}"/>
              </a:ext>
            </a:extLst>
          </p:cNvPr>
          <p:cNvSpPr txBox="1"/>
          <p:nvPr/>
        </p:nvSpPr>
        <p:spPr>
          <a:xfrm>
            <a:off x="320982" y="1757082"/>
            <a:ext cx="59274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Economic Unit Economics:</a:t>
            </a:r>
            <a:r>
              <a:rPr lang="en-US" dirty="0"/>
              <a:t> Computes </a:t>
            </a:r>
            <a:r>
              <a:rPr lang="en-US" dirty="0" err="1"/>
              <a:t>Cost_Per_Tonne</a:t>
            </a:r>
            <a:r>
              <a:rPr lang="en-US" dirty="0"/>
              <a:t>, </a:t>
            </a:r>
            <a:r>
              <a:rPr lang="en-US" dirty="0" err="1"/>
              <a:t>Profit_Margin_pct</a:t>
            </a:r>
            <a:r>
              <a:rPr lang="en-US" dirty="0"/>
              <a:t>, and </a:t>
            </a:r>
            <a:r>
              <a:rPr lang="en-US" dirty="0" err="1"/>
              <a:t>Revenue_Per_Hectare</a:t>
            </a:r>
            <a:r>
              <a:rPr lang="en-US" dirty="0"/>
              <a:t> to track true financial efficiency relative to land and output scale.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Resource Productivity Ratios:</a:t>
            </a:r>
            <a:r>
              <a:rPr lang="en-US" dirty="0"/>
              <a:t> Generates </a:t>
            </a:r>
            <a:r>
              <a:rPr lang="en-US" dirty="0" err="1"/>
              <a:t>Water_Per_Hectare</a:t>
            </a:r>
            <a:r>
              <a:rPr lang="en-US" dirty="0"/>
              <a:t> and </a:t>
            </a:r>
            <a:r>
              <a:rPr lang="en-US" dirty="0" err="1"/>
              <a:t>Fertilizer_Efficiency</a:t>
            </a:r>
            <a:r>
              <a:rPr lang="en-US" dirty="0"/>
              <a:t> to quantify physical input efficiency per ton produced.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Categorical Segmentation:</a:t>
            </a:r>
            <a:r>
              <a:rPr lang="en-US" dirty="0"/>
              <a:t> Segments farms into size cohorts (Small, Medium, Large) and categorizes operations into binary Profitable vs. Loss-Making cohorts.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ABB2B2-F3C3-FBB6-BF31-95C8F7E61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559995"/>
            <a:ext cx="5485699" cy="61049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4D34D6-DEEB-0CD2-9C0E-7FCCF568EDD0}"/>
              </a:ext>
            </a:extLst>
          </p:cNvPr>
          <p:cNvSpPr txBox="1"/>
          <p:nvPr/>
        </p:nvSpPr>
        <p:spPr>
          <a:xfrm>
            <a:off x="439271" y="1640541"/>
            <a:ext cx="56567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Irrigation Method Aggregation:</a:t>
            </a:r>
            <a:r>
              <a:rPr lang="en-US" dirty="0"/>
              <a:t> Groups farms by irrigation type to compute baseline means for water consumed, yield, profit, water efficiency, and pest risk. </a:t>
            </a:r>
          </a:p>
          <a:p>
            <a:endParaRPr lang="en-US" b="1" dirty="0"/>
          </a:p>
          <a:p>
            <a:r>
              <a:rPr lang="en-US" b="1" dirty="0"/>
              <a:t>Comparative Visualization:</a:t>
            </a:r>
            <a:r>
              <a:rPr lang="en-US" dirty="0"/>
              <a:t> Uses multi-panel Seaborn bar charts to visualize water optimization opportunities across modern and conventional methods.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42880-5C45-11BD-8FFB-EAB2269FB041}"/>
              </a:ext>
            </a:extLst>
          </p:cNvPr>
          <p:cNvSpPr txBox="1"/>
          <p:nvPr/>
        </p:nvSpPr>
        <p:spPr>
          <a:xfrm>
            <a:off x="242456" y="1608410"/>
            <a:ext cx="57750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Possible future extensions include: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Machine learning for yield or profit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Regional comparison dashboards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Weather-based agricultural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Interactive </a:t>
            </a:r>
            <a:r>
              <a:rPr lang="en-US" dirty="0" err="1"/>
              <a:t>Streamlit</a:t>
            </a:r>
            <a:r>
              <a:rPr lang="en-US" dirty="0"/>
              <a:t> or Power BI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Crop recommendation based on seasonal conditions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FC710-0420-8F36-7FC8-423CE2958801}"/>
              </a:ext>
            </a:extLst>
          </p:cNvPr>
          <p:cNvSpPr txBox="1"/>
          <p:nvPr/>
        </p:nvSpPr>
        <p:spPr>
          <a:xfrm>
            <a:off x="448235" y="2250141"/>
            <a:ext cx="9421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hlinkClick r:id="rId3"/>
              </a:rPr>
              <a:t>https://github.com/ShravaniKulkarni04/Seasonal-Agriculture-Performance-Analysis.git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4D0B121-4B23-5C9E-42F3-F4A4C7C3BA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269391"/>
              </p:ext>
            </p:extLst>
          </p:nvPr>
        </p:nvGraphicFramePr>
        <p:xfrm>
          <a:off x="656006" y="1678828"/>
          <a:ext cx="6415088" cy="453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6415686" imgH="4533492" progId="Acrobat.Document.DC">
                  <p:embed/>
                </p:oleObj>
              </mc:Choice>
              <mc:Fallback>
                <p:oleObj name="Acrobat Document" r:id="rId3" imgW="6415686" imgH="4533492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6006" y="1678828"/>
                        <a:ext cx="6415088" cy="453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1457</TotalTime>
  <Words>772</Words>
  <Application>Microsoft Office PowerPoint</Application>
  <PresentationFormat>Widescreen</PresentationFormat>
  <Paragraphs>54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Adobe Acrobat Document</vt:lpstr>
      <vt:lpstr>Project Title -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Shrawani K</cp:lastModifiedBy>
  <cp:revision>106</cp:revision>
  <dcterms:created xsi:type="dcterms:W3CDTF">2021-07-11T13:13:15Z</dcterms:created>
  <dcterms:modified xsi:type="dcterms:W3CDTF">2026-09-10T10:21:06Z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